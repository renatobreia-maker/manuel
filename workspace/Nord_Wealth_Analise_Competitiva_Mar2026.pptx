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r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6500" y="2241750"/>
            <a:ext cx="1800000" cy="26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FFFF"/>
                </a:solidFill>
                <a:latin typeface="Poppins"/>
              </a:defRPr>
            </a:pPr>
            <a:r>
              <a:t>MAR/26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0" y="25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Poppins"/>
              </a:defRPr>
            </a:pPr>
            <a:r>
              <a:t>Análise Competitiva — Wealth Management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Índice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Wealth Management no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4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01  </a:t>
            </a:r>
            <a:r>
              <a:rPr sz="1200" b="0">
                <a:solidFill>
                  <a:srgbClr val="002060"/>
                </a:solidFill>
                <a:latin typeface="Poppins"/>
              </a:rPr>
              <a:t>Multi-Family Offices — Principais Players e AUM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78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02  </a:t>
            </a:r>
            <a:r>
              <a:rPr sz="1200" b="0">
                <a:solidFill>
                  <a:srgbClr val="002060"/>
                </a:solidFill>
                <a:latin typeface="Poppins"/>
              </a:rPr>
              <a:t>Assessorias de Investimento — Players e Evolução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216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03  </a:t>
            </a:r>
            <a:r>
              <a:rPr sz="1200" b="0">
                <a:solidFill>
                  <a:srgbClr val="002060"/>
                </a:solidFill>
                <a:latin typeface="Poppins"/>
              </a:rPr>
              <a:t>Consultorias Fee-Based — Nord Wealth e Concorrentes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254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04  </a:t>
            </a:r>
            <a:r>
              <a:rPr sz="1200" b="0">
                <a:solidFill>
                  <a:srgbClr val="002060"/>
                </a:solidFill>
                <a:latin typeface="Poppins"/>
              </a:rPr>
              <a:t>Comparativo por Escopo de Serviço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92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05  </a:t>
            </a:r>
            <a:r>
              <a:rPr sz="1200" b="0">
                <a:solidFill>
                  <a:srgbClr val="002060"/>
                </a:solidFill>
                <a:latin typeface="Poppins"/>
              </a:rPr>
              <a:t>Comparativo por Modelo Econômico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33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06  </a:t>
            </a:r>
            <a:r>
              <a:rPr sz="1200" b="0">
                <a:solidFill>
                  <a:srgbClr val="002060"/>
                </a:solidFill>
                <a:latin typeface="Poppins"/>
              </a:rPr>
              <a:t>Posicionamento Estratégico da Nord Wealth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368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2B59"/>
                </a:solidFill>
                <a:latin typeface="Poppins"/>
              </a:rPr>
              <a:t>07  </a:t>
            </a:r>
            <a:r>
              <a:rPr sz="1200" b="0">
                <a:solidFill>
                  <a:srgbClr val="002060"/>
                </a:solidFill>
                <a:latin typeface="Poppins"/>
              </a:rPr>
              <a:t>Comparativo com RIAs nos EUA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Multi-Family Offices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Gestão Patrimonial Completa — UHNW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8598" y="1350000"/>
          <a:ext cx="8561552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600000"/>
                <a:gridCol w="1300000"/>
                <a:gridCol w="1200000"/>
                <a:gridCol w="3261552"/>
              </a:tblGrid>
              <a:tr h="58333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MFO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AUM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Ticket Mín.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Clientes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Diferencial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BWGI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~R$ 64B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(US$ 11B)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&gt; R$ 100M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Ultra-wealthy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SP e NY. Famílias tradicionais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Turim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~R$ 24B + R$ 5B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(Tori)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R$ 100M /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R$ 10M (Tori)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Famílias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Pioneira MFO. 25 anos.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Lançou Tori (2024)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Pragma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~R$ 22B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(US$ 3.9B)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UHNW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Famílias /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Fundações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Forte em alternativos: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PE, VC, real estate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Faros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R$ 20B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R$ 25M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~130 famílias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Único MFO c/ RIA nos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EUA. Gestora discric.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58333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Portofino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R$ 20B+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UHNW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Famílias /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Empresas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Best MFO Brazil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(Euromoney). +43% a.a.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Assessorias de Investimento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Originalmente Vinculadas a Plataformas — Modelo Rebate → Fee-Based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8598" y="1350000"/>
          <a:ext cx="8561552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400000"/>
                <a:gridCol w="1100000"/>
                <a:gridCol w="1400000"/>
                <a:gridCol w="3461552"/>
              </a:tblGrid>
              <a:tr h="56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Player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Custódia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Clientes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Plataforma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Diferencial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EQI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R$ 51B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85.000+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Própria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(corretora)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Ex-assessoria → corretora.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Fat. ~R$ 700M. 14 unidades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Monte Bravo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Meta R$ 100B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HNW/Private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XP → corretora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própria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Pioneira fee-based.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Virou corretora em 2024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Lifetime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~R$ 20B+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HNW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BTG Pactual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Melhor assessoria BTG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4 anos consecutivos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Pequod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~R$ 4B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—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XP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Melhor escritório Brasil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2025. Base Nordeste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8598" y="4300000"/>
            <a:ext cx="8561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2060"/>
                </a:solidFill>
                <a:latin typeface="Poppins"/>
              </a:defRPr>
            </a:pPr>
            <a:r>
              <a:t>Total do mercado: ~27.500 assessores registrados no Brasil (crescimento de 502% desde 2015). Tendência de migração para modelo fee-based e independência via DTVM própria.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Consultorias Fee-Based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Modelo Nord — CVM, Sem Rebate, Multicustódia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8598" y="1350000"/>
          <a:ext cx="8561552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200000"/>
                <a:gridCol w="1400000"/>
                <a:gridCol w="1000000"/>
                <a:gridCol w="3561552"/>
              </a:tblGrid>
              <a:tr h="625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Consultoria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AuC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Meta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Clientes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Diferencial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Portfel</a:t>
                      </a:r>
                    </a:p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(Grupo Primo)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~R$ 11B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—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15.000+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Melhor consultoria 2025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(XP Awards). Thiago Nigro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Nord Wealth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R$ 10B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(jan/2026)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R$ 16B (2026)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R$ 22B (2027)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~3.000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Research → Wealth. 90+ consult.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B2B c/ 30 escritórios (R$ 2.5B).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Multicustódia: XP, BTG, Avenue, MS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Suno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R$ 6B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R$ 10B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(2026)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—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Crescimento 50% em 2025.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Unificou 3 unidades de negócio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8598" y="4000000"/>
            <a:ext cx="85615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2060"/>
                </a:solidFill>
                <a:latin typeface="Poppins"/>
              </a:defRPr>
            </a:pPr>
            <a:r>
              <a:t>Mercado total: ~593 consultorias PJ na CVM (dobrou desde 2020, +126 novas no último ano). A Resolução CVM 179 (nov/2023) trouxe transparência de comissões e impulsionou o modelo fee-based.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Comparativo por Escopo de Serviço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MFO vs Assessoria vs Consultoria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8598" y="1350000"/>
          <a:ext cx="8561552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100000"/>
                <a:gridCol w="2100000"/>
                <a:gridCol w="2161552"/>
              </a:tblGrid>
              <a:tr h="327272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Serviço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MFO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Assessoria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Consultoria</a:t>
                      </a:r>
                    </a:p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(Nord)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Alocação de investimentos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Discricionária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Via plataforma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Advisory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multicustódia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Planej. tributário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Completo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 Limitado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⚠ Em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desenvolvimento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Planej. sucessório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Completo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(holding, trust)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⚠ Em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desenvolvimento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Governança familiar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Investimentos offshore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Estrutura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própria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⚠ Via plataforma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Via parceiros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(Avenue, MS)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Alternativos (PE/VC)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Acesso direto +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co-invest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⚠ Fundos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listados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⚠ Via fundos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Independ. plataforma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Total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 Preso a 1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plataforma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Multicustódia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Transparência custo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Fee s/ AUM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 Rebate opaco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Fee-only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Escala (clientes)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 Limitada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Alta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Alta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3272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Funil digital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✗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⚠ Limitado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✓ Research →</a:t>
                      </a:r>
                    </a:p>
                    <a:p>
                      <a:pPr algn="ctr">
                        <a:defRPr sz="75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Wealth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Comparativo por Modelo Econômico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Fee, Ticket, Margem e Aquisição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8598" y="1350000"/>
          <a:ext cx="8561552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100000"/>
                <a:gridCol w="2100000"/>
                <a:gridCol w="2161552"/>
              </a:tblGrid>
              <a:tr h="42857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Dimensão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MFO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Assessoria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Consultoria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(Nord)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</a:tr>
              <a:tr h="42857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Fee médio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0,5%–1% AUM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0,5%–1,5% (rebate)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0,5%–1% AUM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42857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Ticket mínimo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R$ 10M–100M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R$ 100K–1M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R$ 1M–5M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42857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Margem líquida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(estrutura enxuta)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Média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(~15% EQI)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Média-alta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42857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Custo aquisição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(relacionamento)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Médio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(força comercial)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Baixo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(conteúdo digital)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42857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Retenção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Muito alta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Média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(cliente migra fácil)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(relacion. + fee)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42857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Escalabilidade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Baixa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(bespoke)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(modelo comercial)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(tech + conteúdo)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Posicionamento Estratégico — Nord Wealth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750000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600000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Vantagens Competitivas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120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45"/>
                </a:solidFill>
                <a:latin typeface="Poppins"/>
              </a:rPr>
              <a:t>●  </a:t>
            </a:r>
            <a:r>
              <a:rPr sz="900" b="0">
                <a:solidFill>
                  <a:srgbClr val="000000"/>
                </a:solidFill>
                <a:latin typeface="Poppins"/>
              </a:rPr>
              <a:t>CAC mais baixo do mercado — funil research → wealth é único entre os 3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48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45"/>
                </a:solidFill>
                <a:latin typeface="Poppins"/>
              </a:rPr>
              <a:t>●  </a:t>
            </a:r>
            <a:r>
              <a:rPr sz="900" b="0">
                <a:solidFill>
                  <a:srgbClr val="000000"/>
                </a:solidFill>
                <a:latin typeface="Poppins"/>
              </a:rPr>
              <a:t>Multicustódia real — mesma independência dos MFOs, com escala de assessoria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76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45"/>
                </a:solidFill>
                <a:latin typeface="Poppins"/>
              </a:rPr>
              <a:t>●  </a:t>
            </a:r>
            <a:r>
              <a:rPr sz="900" b="0">
                <a:solidFill>
                  <a:srgbClr val="000000"/>
                </a:solidFill>
                <a:latin typeface="Poppins"/>
              </a:rPr>
              <a:t>B2B como 2º motor — 30 escritórios parceiros c/ R$ 2.5B (nenhum MFO faz isso)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204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45"/>
                </a:solidFill>
                <a:latin typeface="Poppins"/>
              </a:rPr>
              <a:t>●  </a:t>
            </a:r>
            <a:r>
              <a:rPr sz="900" b="0">
                <a:solidFill>
                  <a:srgbClr val="000000"/>
                </a:solidFill>
                <a:latin typeface="Poppins"/>
              </a:rPr>
              <a:t>Fee-based sem conflito — posicionamento de MFO com escala de assessoria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598" y="2500000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281" y="2350000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Gaps vs MFOs Tradicionais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95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Poppins"/>
              </a:rPr>
              <a:t>▲  </a:t>
            </a:r>
            <a:r>
              <a:rPr sz="900" b="0">
                <a:solidFill>
                  <a:srgbClr val="000000"/>
                </a:solidFill>
                <a:latin typeface="Poppins"/>
              </a:rPr>
              <a:t>Planejamento tributário e sucessório — justifica fee de Turim/Pragma para clientes &gt;R$ 50M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23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Poppins"/>
              </a:rPr>
              <a:t>▲  </a:t>
            </a:r>
            <a:r>
              <a:rPr sz="900" b="0">
                <a:solidFill>
                  <a:srgbClr val="000000"/>
                </a:solidFill>
                <a:latin typeface="Poppins"/>
              </a:rPr>
              <a:t>Acesso direto a alternativos — co-investments, deal flow proprietário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351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Poppins"/>
              </a:rPr>
              <a:t>▲  </a:t>
            </a:r>
            <a:r>
              <a:rPr sz="900" b="0">
                <a:solidFill>
                  <a:srgbClr val="000000"/>
                </a:solidFill>
                <a:latin typeface="Poppins"/>
              </a:rPr>
              <a:t>Estrutura offshore própria — Faros tem RIA nos EUA; Nord depende de parceiros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598" y="4100000"/>
            <a:ext cx="856155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2B59"/>
                </a:solidFill>
                <a:latin typeface="Poppins"/>
              </a:defRPr>
            </a:pPr>
            <a:r>
              <a:t>Conclusão: A Nord Wealth ocupa um sweet spot entre MFOs (independência + fee) e assessorias (escala + digital). O gap principal é em serviços de planejamento patrimonial completo.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099" y="212206"/>
            <a:ext cx="8000000" cy="49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2B59"/>
                </a:solidFill>
                <a:latin typeface="Poppins"/>
              </a:defRPr>
            </a:pPr>
            <a:r>
              <a:t>Comparativo com RIAs nos EUA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598" y="872437"/>
            <a:ext cx="8561552" cy="352697"/>
          </a:xfrm>
          <a:prstGeom prst="rect">
            <a:avLst/>
          </a:prstGeom>
          <a:solidFill>
            <a:srgbClr val="27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9281" y="722437"/>
            <a:ext cx="4000000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O Mercado Brasileiro Está Onde os EUA Estavam nos Anos 90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8598" y="1350000"/>
          <a:ext cx="8561552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80000"/>
                <a:gridCol w="2881552"/>
              </a:tblGrid>
              <a:tr h="425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Dimensão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Brasil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(Consultoria)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EUA (RIA)</a:t>
                      </a:r>
                    </a:p>
                  </a:txBody>
                  <a:tcPr marL="50000" marR="50000" marT="25000" marB="25000">
                    <a:solidFill>
                      <a:srgbClr val="272C54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Modelo dominante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Rebate / comissão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(em transição)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Fee-only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(consolidado)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Dever fiduciário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Não obrigatório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Obrigatório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por lei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Independência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Baixa-média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(crescendo)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Alta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Transparência custo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Baixa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(CVM 179 mudando)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Alta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Fragmentação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Concentrado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em bancos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Muito fragmentado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(&gt;15k RIAs)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Consolidação (M&amp;A)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Iniciando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Avançada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(PE buying RIAs)</a:t>
                      </a:r>
                    </a:p>
                  </a:txBody>
                  <a:tcPr marL="50000" marR="50000" marT="25000" marB="25000">
                    <a:solidFill>
                      <a:srgbClr val="F2F2F2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Tamanho mercado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~R$ 2T ativos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privados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~US$ 130T ativos</a:t>
                      </a:r>
                    </a:p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Poppins"/>
                        </a:defRPr>
                      </a:pPr>
                      <a:r>
                        <a:t>financeiros</a:t>
                      </a:r>
                    </a:p>
                  </a:txBody>
                  <a:tcPr marL="50000" marR="50000" marT="25000" marB="2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8598" y="4600000"/>
            <a:ext cx="8561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72B59"/>
                </a:solidFill>
                <a:latin typeface="Poppins"/>
              </a:defRPr>
            </a:pPr>
            <a:r>
              <a:t>Oportunidade: janela aberta no Brasil para replicar o modelo RIA com escala digital. A Nord é uma das poucas consultorias com posicionamento fee-based + multicustódia + funil de conteúdo.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rd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